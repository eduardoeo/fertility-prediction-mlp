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80" r:id="rId6"/>
    <p:sldId id="281" r:id="rId7"/>
    <p:sldId id="282" r:id="rId8"/>
    <p:sldId id="283" r:id="rId9"/>
    <p:sldId id="284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442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62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772400" y="274320"/>
            <a:ext cx="1828800" cy="18288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297680"/>
            <a:ext cx="9144000" cy="850392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NEURONALES 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PROFUNDO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Fertilidad Masculina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Estefanía Ovejero  ·  Guillem Alcubilla Pueyo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Machine Learning Repository – Fertility (ID 244)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01 · INTRODUCCIÓN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Contexto Clínico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fertilidad es clave en la salud reproductiva. El diagnóstico tradicional requiere evaluaciones clínicas complejas, invasivas y costosas. Está influenciado por condiciones biológicas, factores ambientales, hábitos de vida e historial médico.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Solución: IA Predictiva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Neuronales MLP (Perceptrón Multicapa) pueden analizar relaciones no lineales entre hábitos cotidianos y alteraciones seminales, actuando como herramienta de cribado médico temprano, ágil y no invasivo.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370832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4416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Objetivo del Proyecto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6177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modelo MLP que prediga alteraciones de fertilidad desde el Fertility Dataset UCI (100 registros, 9 variables).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109728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480560" y="109728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66344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Biológicos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Historial médico y condiciones previas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28600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480560" y="2286000"/>
            <a:ext cx="10972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663440" y="2450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Ambientales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Exposiciones y entorno del paciente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347472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480560" y="3474720"/>
            <a:ext cx="10972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663440" y="3639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Estilo de vida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3977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Tabaco, alcohol, sedentarismo, etc.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4572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</a:rPr>
              <a:t>Gil et al. (2012) | Siristatidis et al. (2016)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02 · MATERIALES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680667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10972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496312" y="1097280"/>
            <a:ext cx="192024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496312" y="12070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96312" y="1680667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0972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26864" y="1097280"/>
            <a:ext cx="1920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26864" y="12070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26864" y="1680667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(N / O)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57416" y="10972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757416" y="109728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757416" y="12070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57416" y="1680667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24028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2313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Variables Predictoras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2633472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0292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Season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Estación del año (−1 a 1)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305409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02920" y="30723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30723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Edad normalizada (0−1)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3474720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02920" y="34930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Child_diseases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37360" y="3493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Enfermedades infantiles (0/1)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" y="389534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02920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Accident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37360" y="3913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Traumatismos graves (0/1)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" y="4315968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02920" y="43342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Surgical_int.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37360" y="43342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Intervención quirúrgica (0/1)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2240280"/>
            <a:ext cx="4069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846320" y="2313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Variables (cont.) + Objetivo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27448" y="2633472"/>
            <a:ext cx="40233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84632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High_fevers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Fiebres altas en último año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27448" y="3054096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846320" y="30723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Alcohol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63640" y="30723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Consumo de alcohol (0−1)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27448" y="3474720"/>
            <a:ext cx="40233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4846320" y="34930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Smoking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34930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Tabaquismo (−1/0/1)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27448" y="389534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846320" y="39136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Hrs_sitting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63640" y="39136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Horas sentado/día (0−1)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27448" y="4315968"/>
            <a:ext cx="40233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4846320" y="43342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Diagnosis ★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63640" y="43342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OBJETIVO: Normal / Alterado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03 · PREPROCESADO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 y Balanceo de Datos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914400" y="117043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91440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Carga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ucimlrepo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fetch_ucirepo(244)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38528" y="176479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057400" y="114300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606040" y="1170432"/>
            <a:ext cx="457200" cy="4572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60604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Codificación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1965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N→0, O→1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duplicados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30168" y="176479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749040" y="114300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297680" y="1170432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29768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Análisis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1965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numéricas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categóricas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21808" y="176479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440680" y="114300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989320" y="1170432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98932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División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1965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 (stratify)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13448" y="176479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7132320" y="114300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7680960" y="117043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768096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SMOTE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1965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vecinos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Sintéticos minoría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60604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02920" y="2679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¿Por qué SMOTE?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999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El dataset presenta fuerte desbalanceo de clases: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33192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Normal (N)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45920" y="3355848"/>
            <a:ext cx="225308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224528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88%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3721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Alterado (O)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645920" y="3758184"/>
            <a:ext cx="30723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224528" y="3721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12%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balanceo → el modelo predice siempre 'Normal'. SMOTE con k=3 genera ejemplos sintéticos estrictamente locales.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60604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800600" y="2679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Tras aplicar SMOTE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00600" y="3108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Normal (N)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43600" y="3145536"/>
            <a:ext cx="12801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8522208" y="31089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50%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00600" y="3566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Alterado (O)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43600" y="3602736"/>
            <a:ext cx="12801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8522208" y="3566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50%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0060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Parámetro clave: k=3 vecinos (evita overlapping con muestra pequeña).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00600" y="4462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División final: 80% entrenamiento / 20% test con stratify=y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g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ectionText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s-ES" sz="850" b="1" dirty="0">
                <a:solidFill>
                  <a:srgbClr val="0D1B2A"/>
                </a:solidFill>
              </a:rPr>
              <a:t>04 · VISUALIZACIÓN</a:t>
            </a:r>
          </a:p>
        </p:txBody>
      </p:sp>
      <p:sp>
        <p:nvSpPr>
          <p:cNvPr id="4" name="NumBg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NumText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" name="Title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0D1B2A"/>
                </a:solidFill>
              </a:rPr>
              <a:t>Diagrama de Cajas y Bigotes: Variables Numéricas</a:t>
            </a:r>
          </a:p>
        </p:txBody>
      </p:sp>
      <p:sp>
        <p:nvSpPr>
          <p:cNvPr id="7" name="Separator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Card20"/>
          <p:cNvSpPr/>
          <p:nvPr/>
        </p:nvSpPr>
        <p:spPr>
          <a:xfrm>
            <a:off x="274320" y="1096200"/>
            <a:ext cx="8595360" cy="386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CardTitle21"/>
          <p:cNvSpPr/>
          <p:nvPr/>
        </p:nvSpPr>
        <p:spPr>
          <a:xfrm>
            <a:off x="411480" y="1142640"/>
            <a:ext cx="50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1B4F72"/>
                </a:solidFill>
              </a:rPr>
              <a:t>Boxplot: Variables Numéricas (age, hrs_sitting)</a:t>
            </a:r>
          </a:p>
        </p:txBody>
      </p:sp>
      <p:pic>
        <p:nvPicPr>
          <p:cNvPr id="22" name="Img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8480"/>
            <a:ext cx="8320320" cy="3257280"/>
          </a:xfrm>
          <a:prstGeom prst="rect">
            <a:avLst/>
          </a:prstGeom>
        </p:spPr>
      </p:pic>
      <p:sp>
        <p:nvSpPr>
          <p:cNvPr id="23" name="Caption23"/>
          <p:cNvSpPr/>
          <p:nvPr/>
        </p:nvSpPr>
        <p:spPr>
          <a:xfrm>
            <a:off x="411480" y="4704240"/>
            <a:ext cx="832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800" b="0" i="1" dirty="0">
                <a:solidFill>
                  <a:srgbClr val="64748B"/>
                </a:solidFill>
              </a:rPr>
              <a:t>age: distribución concentrada (0.5-1.0 normalizado). hrs_sitting: mayor dispersión con outliers superiores.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g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ectionText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s-ES" sz="850" b="1" dirty="0">
                <a:solidFill>
                  <a:srgbClr val="0D1B2A"/>
                </a:solidFill>
              </a:rPr>
              <a:t>04 · VISUALIZACIÓN</a:t>
            </a:r>
          </a:p>
        </p:txBody>
      </p:sp>
      <p:sp>
        <p:nvSpPr>
          <p:cNvPr id="4" name="NumBg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NumText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" name="Title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0D1B2A"/>
                </a:solidFill>
              </a:rPr>
              <a:t>Diagrama de Dispersión: Age vs. Hrs_sitting</a:t>
            </a:r>
          </a:p>
        </p:txBody>
      </p:sp>
      <p:sp>
        <p:nvSpPr>
          <p:cNvPr id="7" name="Separator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Card20"/>
          <p:cNvSpPr/>
          <p:nvPr/>
        </p:nvSpPr>
        <p:spPr>
          <a:xfrm>
            <a:off x="274320" y="1096200"/>
            <a:ext cx="8595360" cy="386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CardTitle21"/>
          <p:cNvSpPr/>
          <p:nvPr/>
        </p:nvSpPr>
        <p:spPr>
          <a:xfrm>
            <a:off x="411480" y="1142640"/>
            <a:ext cx="50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1B4F72"/>
                </a:solidFill>
              </a:rPr>
              <a:t>Scatter Plot: Age vs Hrs_sitting (Normal vs Alterado)</a:t>
            </a:r>
          </a:p>
        </p:txBody>
      </p:sp>
      <p:pic>
        <p:nvPicPr>
          <p:cNvPr id="22" name="Img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39" y="1531620"/>
            <a:ext cx="5430881" cy="3257280"/>
          </a:xfrm>
          <a:prstGeom prst="rect">
            <a:avLst/>
          </a:prstGeom>
        </p:spPr>
      </p:pic>
      <p:sp>
        <p:nvSpPr>
          <p:cNvPr id="23" name="Caption23"/>
          <p:cNvSpPr/>
          <p:nvPr/>
        </p:nvSpPr>
        <p:spPr>
          <a:xfrm>
            <a:off x="411480" y="4704240"/>
            <a:ext cx="832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800" b="0" i="1" dirty="0">
                <a:solidFill>
                  <a:srgbClr val="64748B"/>
                </a:solidFill>
              </a:rPr>
              <a:t>Sin separación clara entre clases. Los casos alterados se distribuyen a lo largo de todo el rango de edades y horas sentado.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g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ectionText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s-ES" sz="850" b="1" dirty="0">
                <a:solidFill>
                  <a:srgbClr val="0D1B2A"/>
                </a:solidFill>
              </a:rPr>
              <a:t>04 · VISUALIZACIÓN</a:t>
            </a:r>
          </a:p>
        </p:txBody>
      </p:sp>
      <p:sp>
        <p:nvSpPr>
          <p:cNvPr id="4" name="NumBg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NumText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" name="Title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0D1B2A"/>
                </a:solidFill>
              </a:rPr>
              <a:t>Histogramas: Distribución de Variables (1/2)</a:t>
            </a:r>
          </a:p>
        </p:txBody>
      </p:sp>
      <p:sp>
        <p:nvSpPr>
          <p:cNvPr id="7" name="Separator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Card23"/>
          <p:cNvSpPr/>
          <p:nvPr/>
        </p:nvSpPr>
        <p:spPr>
          <a:xfrm>
            <a:off x="274320" y="1096200"/>
            <a:ext cx="2838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CardTitle33"/>
          <p:cNvSpPr/>
          <p:nvPr/>
        </p:nvSpPr>
        <p:spPr>
          <a:xfrm>
            <a:off x="347760" y="1132920"/>
            <a:ext cx="269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028090"/>
                </a:solidFill>
              </a:rPr>
              <a:t>Season</a:t>
            </a:r>
          </a:p>
        </p:txBody>
      </p:sp>
      <p:pic>
        <p:nvPicPr>
          <p:cNvPr id="43" name="Img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60" y="1352232"/>
            <a:ext cx="2691120" cy="1536048"/>
          </a:xfrm>
          <a:prstGeom prst="rect">
            <a:avLst/>
          </a:prstGeom>
        </p:spPr>
      </p:pic>
      <p:sp>
        <p:nvSpPr>
          <p:cNvPr id="88" name="Card88"/>
          <p:cNvSpPr/>
          <p:nvPr/>
        </p:nvSpPr>
        <p:spPr>
          <a:xfrm>
            <a:off x="3203760" y="1096200"/>
            <a:ext cx="2838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8" name="CardTitle98"/>
          <p:cNvSpPr/>
          <p:nvPr/>
        </p:nvSpPr>
        <p:spPr>
          <a:xfrm>
            <a:off x="3277200" y="1132920"/>
            <a:ext cx="269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028090"/>
                </a:solidFill>
              </a:rPr>
              <a:t>Age</a:t>
            </a:r>
          </a:p>
        </p:txBody>
      </p:sp>
      <p:pic>
        <p:nvPicPr>
          <p:cNvPr id="108" name="Img1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200" y="1352232"/>
            <a:ext cx="2691120" cy="1536048"/>
          </a:xfrm>
          <a:prstGeom prst="rect">
            <a:avLst/>
          </a:prstGeom>
        </p:spPr>
      </p:pic>
      <p:sp>
        <p:nvSpPr>
          <p:cNvPr id="77" name="Card77"/>
          <p:cNvSpPr/>
          <p:nvPr/>
        </p:nvSpPr>
        <p:spPr>
          <a:xfrm>
            <a:off x="6133200" y="1096200"/>
            <a:ext cx="2838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7" name="CardTitle87"/>
          <p:cNvSpPr/>
          <p:nvPr/>
        </p:nvSpPr>
        <p:spPr>
          <a:xfrm>
            <a:off x="6206640" y="1132920"/>
            <a:ext cx="269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028090"/>
                </a:solidFill>
              </a:rPr>
              <a:t>Child Diseases</a:t>
            </a:r>
          </a:p>
        </p:txBody>
      </p:sp>
      <p:pic>
        <p:nvPicPr>
          <p:cNvPr id="97" name="Img9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640" y="1352232"/>
            <a:ext cx="2691120" cy="1536048"/>
          </a:xfrm>
          <a:prstGeom prst="rect">
            <a:avLst/>
          </a:prstGeom>
        </p:spPr>
      </p:pic>
      <p:sp>
        <p:nvSpPr>
          <p:cNvPr id="8" name="Card43"/>
          <p:cNvSpPr/>
          <p:nvPr/>
        </p:nvSpPr>
        <p:spPr>
          <a:xfrm>
            <a:off x="274320" y="3107880"/>
            <a:ext cx="2838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CardTitle53"/>
          <p:cNvSpPr/>
          <p:nvPr/>
        </p:nvSpPr>
        <p:spPr>
          <a:xfrm>
            <a:off x="347760" y="3144600"/>
            <a:ext cx="269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028090"/>
                </a:solidFill>
              </a:rPr>
              <a:t>Accident</a:t>
            </a:r>
          </a:p>
        </p:txBody>
      </p:sp>
      <p:pic>
        <p:nvPicPr>
          <p:cNvPr id="63" name="Img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60" y="3363912"/>
            <a:ext cx="2691120" cy="1536048"/>
          </a:xfrm>
          <a:prstGeom prst="rect">
            <a:avLst/>
          </a:prstGeom>
        </p:spPr>
      </p:pic>
      <p:sp>
        <p:nvSpPr>
          <p:cNvPr id="67" name="Card67"/>
          <p:cNvSpPr/>
          <p:nvPr/>
        </p:nvSpPr>
        <p:spPr>
          <a:xfrm>
            <a:off x="3203760" y="3107880"/>
            <a:ext cx="2838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CardTitle77"/>
          <p:cNvSpPr/>
          <p:nvPr/>
        </p:nvSpPr>
        <p:spPr>
          <a:xfrm>
            <a:off x="3277200" y="3144600"/>
            <a:ext cx="269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028090"/>
                </a:solidFill>
              </a:rPr>
              <a:t>Surgical Intervention</a:t>
            </a:r>
          </a:p>
        </p:txBody>
      </p:sp>
      <p:pic>
        <p:nvPicPr>
          <p:cNvPr id="10" name="Img8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200" y="3363912"/>
            <a:ext cx="2691120" cy="1536048"/>
          </a:xfrm>
          <a:prstGeom prst="rect">
            <a:avLst/>
          </a:prstGeom>
        </p:spPr>
      </p:pic>
      <p:sp>
        <p:nvSpPr>
          <p:cNvPr id="41" name="Card41"/>
          <p:cNvSpPr/>
          <p:nvPr/>
        </p:nvSpPr>
        <p:spPr>
          <a:xfrm>
            <a:off x="6133200" y="3107880"/>
            <a:ext cx="2838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CardTitle51"/>
          <p:cNvSpPr/>
          <p:nvPr/>
        </p:nvSpPr>
        <p:spPr>
          <a:xfrm>
            <a:off x="6206640" y="3144600"/>
            <a:ext cx="269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028090"/>
                </a:solidFill>
              </a:rPr>
              <a:t>High Fevers</a:t>
            </a:r>
          </a:p>
        </p:txBody>
      </p:sp>
      <p:pic>
        <p:nvPicPr>
          <p:cNvPr id="61" name="Img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640" y="3363912"/>
            <a:ext cx="2691120" cy="1536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g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ectionText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s-ES" sz="850" b="1" dirty="0">
                <a:solidFill>
                  <a:srgbClr val="0D1B2A"/>
                </a:solidFill>
              </a:rPr>
              <a:t>04 · VISUALIZACIÓN</a:t>
            </a:r>
          </a:p>
        </p:txBody>
      </p:sp>
      <p:sp>
        <p:nvSpPr>
          <p:cNvPr id="4" name="NumBg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NumText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6" name="Title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0D1B2A"/>
                </a:solidFill>
              </a:rPr>
              <a:t>Histogramas: Distribución de Variables (2/2)</a:t>
            </a:r>
          </a:p>
        </p:txBody>
      </p:sp>
      <p:sp>
        <p:nvSpPr>
          <p:cNvPr id="7" name="Separator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Card23"/>
          <p:cNvSpPr/>
          <p:nvPr/>
        </p:nvSpPr>
        <p:spPr>
          <a:xfrm>
            <a:off x="274320" y="109620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CardTitle33"/>
          <p:cNvSpPr/>
          <p:nvPr/>
        </p:nvSpPr>
        <p:spPr>
          <a:xfrm>
            <a:off x="347760" y="1132920"/>
            <a:ext cx="415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F4A261"/>
                </a:solidFill>
              </a:rPr>
              <a:t>Alcohol</a:t>
            </a:r>
          </a:p>
        </p:txBody>
      </p:sp>
      <p:pic>
        <p:nvPicPr>
          <p:cNvPr id="43" name="Img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60" y="1352232"/>
            <a:ext cx="4150800" cy="1536048"/>
          </a:xfrm>
          <a:prstGeom prst="rect">
            <a:avLst/>
          </a:prstGeom>
        </p:spPr>
      </p:pic>
      <p:sp>
        <p:nvSpPr>
          <p:cNvPr id="88" name="Card88"/>
          <p:cNvSpPr/>
          <p:nvPr/>
        </p:nvSpPr>
        <p:spPr>
          <a:xfrm>
            <a:off x="4663440" y="109620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8" name="CardTitle98"/>
          <p:cNvSpPr/>
          <p:nvPr/>
        </p:nvSpPr>
        <p:spPr>
          <a:xfrm>
            <a:off x="4736880" y="1132920"/>
            <a:ext cx="415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9B5DE5"/>
                </a:solidFill>
              </a:rPr>
              <a:t>Smoking</a:t>
            </a:r>
          </a:p>
        </p:txBody>
      </p:sp>
      <p:pic>
        <p:nvPicPr>
          <p:cNvPr id="108" name="Img1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880" y="1352232"/>
            <a:ext cx="4150800" cy="1536048"/>
          </a:xfrm>
          <a:prstGeom prst="rect">
            <a:avLst/>
          </a:prstGeom>
        </p:spPr>
      </p:pic>
      <p:sp>
        <p:nvSpPr>
          <p:cNvPr id="77" name="Card77"/>
          <p:cNvSpPr/>
          <p:nvPr/>
        </p:nvSpPr>
        <p:spPr>
          <a:xfrm>
            <a:off x="274320" y="310788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7" name="CardTitle87"/>
          <p:cNvSpPr/>
          <p:nvPr/>
        </p:nvSpPr>
        <p:spPr>
          <a:xfrm>
            <a:off x="347760" y="3144600"/>
            <a:ext cx="415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028090"/>
                </a:solidFill>
              </a:rPr>
              <a:t>Hrs_sitting</a:t>
            </a:r>
          </a:p>
        </p:txBody>
      </p:sp>
      <p:pic>
        <p:nvPicPr>
          <p:cNvPr id="97" name="Img9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60" y="3363912"/>
            <a:ext cx="4150800" cy="1536048"/>
          </a:xfrm>
          <a:prstGeom prst="rect">
            <a:avLst/>
          </a:prstGeom>
        </p:spPr>
      </p:pic>
      <p:sp>
        <p:nvSpPr>
          <p:cNvPr id="8" name="Card43"/>
          <p:cNvSpPr/>
          <p:nvPr/>
        </p:nvSpPr>
        <p:spPr>
          <a:xfrm>
            <a:off x="4663440" y="310788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CardTitle53"/>
          <p:cNvSpPr/>
          <p:nvPr/>
        </p:nvSpPr>
        <p:spPr>
          <a:xfrm>
            <a:off x="4736880" y="3144600"/>
            <a:ext cx="415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EF4444"/>
                </a:solidFill>
              </a:rPr>
              <a:t>Target (Clase)</a:t>
            </a:r>
          </a:p>
        </p:txBody>
      </p:sp>
      <p:pic>
        <p:nvPicPr>
          <p:cNvPr id="63" name="Img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880" y="3363912"/>
            <a:ext cx="4150800" cy="1536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g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ectionText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s-ES" sz="850" b="1" dirty="0">
                <a:solidFill>
                  <a:srgbClr val="0D1B2A"/>
                </a:solidFill>
              </a:rPr>
              <a:t>04 · VISUALIZACIÓN</a:t>
            </a:r>
          </a:p>
        </p:txBody>
      </p:sp>
      <p:sp>
        <p:nvSpPr>
          <p:cNvPr id="4" name="NumBg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NumText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" name="Title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0D1B2A"/>
                </a:solidFill>
              </a:rPr>
              <a:t>Matriz de Correlación entre Variables Predictoras</a:t>
            </a:r>
          </a:p>
        </p:txBody>
      </p:sp>
      <p:sp>
        <p:nvSpPr>
          <p:cNvPr id="7" name="Separator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Card20"/>
          <p:cNvSpPr/>
          <p:nvPr/>
        </p:nvSpPr>
        <p:spPr>
          <a:xfrm>
            <a:off x="274320" y="1096200"/>
            <a:ext cx="8595360" cy="386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CardTitle21"/>
          <p:cNvSpPr/>
          <p:nvPr/>
        </p:nvSpPr>
        <p:spPr>
          <a:xfrm>
            <a:off x="411480" y="1142640"/>
            <a:ext cx="50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1B4F72"/>
                </a:solidFill>
              </a:rPr>
              <a:t>Matriz de Correlación de Variables</a:t>
            </a:r>
          </a:p>
        </p:txBody>
      </p:sp>
      <p:pic>
        <p:nvPicPr>
          <p:cNvPr id="22" name="Img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553" y="1466172"/>
            <a:ext cx="5353060" cy="3257280"/>
          </a:xfrm>
          <a:prstGeom prst="rect">
            <a:avLst/>
          </a:prstGeom>
        </p:spPr>
      </p:pic>
      <p:sp>
        <p:nvSpPr>
          <p:cNvPr id="23" name="Caption23"/>
          <p:cNvSpPr/>
          <p:nvPr/>
        </p:nvSpPr>
        <p:spPr>
          <a:xfrm>
            <a:off x="411480" y="4704240"/>
            <a:ext cx="832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800" b="0" i="1" dirty="0">
                <a:solidFill>
                  <a:srgbClr val="64748B"/>
                </a:solidFill>
              </a:rPr>
              <a:t>La mayoría de correlaciones son bajas. Se confirma mantener las 9 variables para el modelo MLP.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05 · MÉTODOS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y Análisis de Características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1216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Resultados ANOVA + Chi-Cuadrado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554480"/>
            <a:ext cx="4078224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2920" y="1554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Variable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54680" y="15544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P-Valor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1865376"/>
            <a:ext cx="407822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18836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1883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ANOVA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18836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p = 0.254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148840"/>
            <a:ext cx="40782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2167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season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0240" y="2167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Chi²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54680" y="21671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 = 0.261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432304"/>
            <a:ext cx="407822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accident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20240" y="2450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54680" y="2450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 = 0.290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2715768"/>
            <a:ext cx="40782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02920" y="27340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high_fevers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20240" y="2734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Chi²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54680" y="2734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 = 0.649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2999232"/>
            <a:ext cx="407822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02920" y="3017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surgical_int.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2024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Chi²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54680" y="3017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 = 0.705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3282696"/>
            <a:ext cx="40782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3300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alcohol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20240" y="3300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Chi²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54680" y="33009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 = 0.734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048" y="3566160"/>
            <a:ext cx="407822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02920" y="3584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smoking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20240" y="3584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Chi²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54680" y="3584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 = 0.746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4048" y="3849624"/>
            <a:ext cx="40782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02920" y="3867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hrs_sitting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920240" y="38679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ANOVA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54680" y="38679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 = 0.821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" y="4133088"/>
            <a:ext cx="407822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502920" y="4151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child_diseases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920240" y="41513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Chi²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154680" y="41513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 = 0.885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84048" y="4443984"/>
            <a:ext cx="407822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502920" y="4526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Ninguna variable supera p &lt; 0.05 (muestra pequeña, clase minoritaria 12%)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11430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800600" y="1216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¿Por qué conservar todas las variables?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0060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y Chi² evalúan relaciones lineales/individuales. Las Redes Neuronales MLP descubren interacciones no lineales complejas entre múltiples variables. Con solo 9 variables, eliminar basándonos en pruebas univariables arriesga perder información clave.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4800600" y="2907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Feature Engineering: Descartado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00600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Se probaron variables sintéticas (riesgo_sedentario = age × hrs_sitting, trauma_fisico = accident + surgical_int.) pero fueron descartadas: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0600" y="37490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riesgo_sedentario: r = 0.91 con hrs_sitting (multicolinealidad severa)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00600" y="407822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trauma_fisico: r = 0.74 con variables origen + degradó la matriz de confusión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05 · MÉTODOS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Modelo MLP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3" name="Shape 111"/>
          <p:cNvSpPr/>
          <p:nvPr/>
        </p:nvSpPr>
        <p:spPr>
          <a:xfrm>
            <a:off x="7772400" y="1143000"/>
            <a:ext cx="100584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4" name="Shape 112"/>
          <p:cNvSpPr/>
          <p:nvPr/>
        </p:nvSpPr>
        <p:spPr>
          <a:xfrm>
            <a:off x="7635240" y="1097280"/>
            <a:ext cx="114300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Text 113"/>
          <p:cNvSpPr/>
          <p:nvPr/>
        </p:nvSpPr>
        <p:spPr>
          <a:xfrm>
            <a:off x="7635240" y="1097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Hiperparámetros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7635240" y="1417320"/>
            <a:ext cx="1143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7" name="Text 115"/>
          <p:cNvSpPr/>
          <p:nvPr/>
        </p:nvSpPr>
        <p:spPr>
          <a:xfrm>
            <a:off x="7653528" y="1435608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Optimizador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7653528" y="1600200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Adam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7635240" y="1764792"/>
            <a:ext cx="1143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0" name="Text 118"/>
          <p:cNvSpPr/>
          <p:nvPr/>
        </p:nvSpPr>
        <p:spPr>
          <a:xfrm>
            <a:off x="7653528" y="1783080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Learning Rate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7653528" y="1947672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72"/>
                </a:solidFill>
              </a:rPr>
              <a:t>0.005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635240" y="2112264"/>
            <a:ext cx="1143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Text 121"/>
          <p:cNvSpPr/>
          <p:nvPr/>
        </p:nvSpPr>
        <p:spPr>
          <a:xfrm>
            <a:off x="7653528" y="2130552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Activación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7653528" y="2295144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</a:rPr>
              <a:t>ReLU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7635240" y="2459736"/>
            <a:ext cx="1143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6" name="Text 124"/>
          <p:cNvSpPr/>
          <p:nvPr/>
        </p:nvSpPr>
        <p:spPr>
          <a:xfrm>
            <a:off x="7653528" y="2478024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Batch Size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7653528" y="2642616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16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7635240" y="2807208"/>
            <a:ext cx="1143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9" name="Text 127"/>
          <p:cNvSpPr/>
          <p:nvPr/>
        </p:nvSpPr>
        <p:spPr>
          <a:xfrm>
            <a:off x="7653528" y="2825496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Regulariz. L2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7653528" y="2990088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</a:rPr>
              <a:t>α = 1×10⁻⁵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7635240" y="3154680"/>
            <a:ext cx="1143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2" name="Text 130"/>
          <p:cNvSpPr/>
          <p:nvPr/>
        </p:nvSpPr>
        <p:spPr>
          <a:xfrm>
            <a:off x="7653528" y="3172968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Épocas máx.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7653528" y="3337560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72"/>
                </a:solidFill>
              </a:rPr>
              <a:t>500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635240" y="3502152"/>
            <a:ext cx="1143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5" name="Text 133"/>
          <p:cNvSpPr/>
          <p:nvPr/>
        </p:nvSpPr>
        <p:spPr>
          <a:xfrm>
            <a:off x="7653528" y="3520440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Early Stopping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7653528" y="3685032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Desactivado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7635240" y="3849624"/>
            <a:ext cx="1143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8" name="Text 136"/>
          <p:cNvSpPr/>
          <p:nvPr/>
        </p:nvSpPr>
        <p:spPr>
          <a:xfrm>
            <a:off x="7653528" y="3867912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Validación CV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7653528" y="4032504"/>
            <a:ext cx="1106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3-Fold Estrat.</a:t>
            </a:r>
            <a:endParaRPr lang="en-US" sz="800" dirty="0"/>
          </a:p>
        </p:txBody>
      </p:sp>
      <p:sp>
        <p:nvSpPr>
          <p:cNvPr id="146" name="Rectangle 4">
            <a:extLst>
              <a:ext uri="{FF2B5EF4-FFF2-40B4-BE49-F238E27FC236}">
                <a16:creationId xmlns:a16="http://schemas.microsoft.com/office/drawing/2014/main" id="{A127BD22-B8A1-4E14-83D3-5FB1741B49A4}"/>
              </a:ext>
            </a:extLst>
          </p:cNvPr>
          <p:cNvSpPr/>
          <p:nvPr/>
        </p:nvSpPr>
        <p:spPr>
          <a:xfrm flipH="1">
            <a:off x="365760" y="1106058"/>
            <a:ext cx="1645920" cy="9852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7" name="TextBox 5">
            <a:extLst>
              <a:ext uri="{FF2B5EF4-FFF2-40B4-BE49-F238E27FC236}">
                <a16:creationId xmlns:a16="http://schemas.microsoft.com/office/drawing/2014/main" id="{6BD7DE66-BBD0-F307-0285-FB8C79B73AAE}"/>
              </a:ext>
            </a:extLst>
          </p:cNvPr>
          <p:cNvSpPr txBox="1"/>
          <p:nvPr/>
        </p:nvSpPr>
        <p:spPr>
          <a:xfrm flipH="1">
            <a:off x="365760" y="1174640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Entrada</a:t>
            </a:r>
          </a:p>
        </p:txBody>
      </p:sp>
      <p:sp>
        <p:nvSpPr>
          <p:cNvPr id="148" name="TextBox 6">
            <a:extLst>
              <a:ext uri="{FF2B5EF4-FFF2-40B4-BE49-F238E27FC236}">
                <a16:creationId xmlns:a16="http://schemas.microsoft.com/office/drawing/2014/main" id="{9A15E3DE-9D79-C3C4-A9D3-6BEC52E4F00F}"/>
              </a:ext>
            </a:extLst>
          </p:cNvPr>
          <p:cNvSpPr txBox="1"/>
          <p:nvPr/>
        </p:nvSpPr>
        <p:spPr>
          <a:xfrm flipH="1">
            <a:off x="365760" y="1517539"/>
            <a:ext cx="164592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 dirty="0">
                <a:solidFill>
                  <a:srgbClr val="FFFFFF"/>
                </a:solidFill>
                <a:latin typeface="Calibri"/>
              </a:rPr>
              <a:t>9 </a:t>
            </a:r>
            <a:r>
              <a:rPr sz="1650" b="1" dirty="0" err="1">
                <a:solidFill>
                  <a:srgbClr val="FFFFFF"/>
                </a:solidFill>
                <a:latin typeface="Calibri"/>
              </a:rPr>
              <a:t>neuronas</a:t>
            </a:r>
            <a:endParaRPr sz="165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9" name="TextBox 7">
            <a:extLst>
              <a:ext uri="{FF2B5EF4-FFF2-40B4-BE49-F238E27FC236}">
                <a16:creationId xmlns:a16="http://schemas.microsoft.com/office/drawing/2014/main" id="{91B25B29-8DE4-1467-95CF-93E87FCC9064}"/>
              </a:ext>
            </a:extLst>
          </p:cNvPr>
          <p:cNvSpPr txBox="1"/>
          <p:nvPr/>
        </p:nvSpPr>
        <p:spPr>
          <a:xfrm flipH="1">
            <a:off x="365760" y="1860438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CADCFC"/>
                </a:solidFill>
                <a:latin typeface="Calibri"/>
              </a:rPr>
              <a:t>(9 variables)</a:t>
            </a:r>
          </a:p>
        </p:txBody>
      </p:sp>
      <p:sp>
        <p:nvSpPr>
          <p:cNvPr id="151" name="Rectangle 9">
            <a:extLst>
              <a:ext uri="{FF2B5EF4-FFF2-40B4-BE49-F238E27FC236}">
                <a16:creationId xmlns:a16="http://schemas.microsoft.com/office/drawing/2014/main" id="{03B128AC-F874-919D-017F-AEB6E18566CC}"/>
              </a:ext>
            </a:extLst>
          </p:cNvPr>
          <p:cNvSpPr/>
          <p:nvPr/>
        </p:nvSpPr>
        <p:spPr>
          <a:xfrm flipH="1">
            <a:off x="2192963" y="1111599"/>
            <a:ext cx="1647513" cy="989039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2" name="TextBox 10">
            <a:extLst>
              <a:ext uri="{FF2B5EF4-FFF2-40B4-BE49-F238E27FC236}">
                <a16:creationId xmlns:a16="http://schemas.microsoft.com/office/drawing/2014/main" id="{376A925F-8DF1-E695-3D94-C6F9649509DF}"/>
              </a:ext>
            </a:extLst>
          </p:cNvPr>
          <p:cNvSpPr txBox="1"/>
          <p:nvPr/>
        </p:nvSpPr>
        <p:spPr>
          <a:xfrm flipH="1">
            <a:off x="2192966" y="1180182"/>
            <a:ext cx="16475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Oculta 1</a:t>
            </a:r>
          </a:p>
        </p:txBody>
      </p:sp>
      <p:sp>
        <p:nvSpPr>
          <p:cNvPr id="153" name="TextBox 11">
            <a:extLst>
              <a:ext uri="{FF2B5EF4-FFF2-40B4-BE49-F238E27FC236}">
                <a16:creationId xmlns:a16="http://schemas.microsoft.com/office/drawing/2014/main" id="{A3296D09-E9CE-F9E8-F0D0-190A14C335F1}"/>
              </a:ext>
            </a:extLst>
          </p:cNvPr>
          <p:cNvSpPr txBox="1"/>
          <p:nvPr/>
        </p:nvSpPr>
        <p:spPr>
          <a:xfrm flipH="1">
            <a:off x="2192966" y="1523081"/>
            <a:ext cx="164751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Calibri"/>
              </a:rPr>
              <a:t>10 neuronas</a:t>
            </a:r>
          </a:p>
        </p:txBody>
      </p:sp>
      <p:sp>
        <p:nvSpPr>
          <p:cNvPr id="154" name="TextBox 12">
            <a:extLst>
              <a:ext uri="{FF2B5EF4-FFF2-40B4-BE49-F238E27FC236}">
                <a16:creationId xmlns:a16="http://schemas.microsoft.com/office/drawing/2014/main" id="{0B93F79B-226F-D405-5EE1-CFAD2575AE38}"/>
              </a:ext>
            </a:extLst>
          </p:cNvPr>
          <p:cNvSpPr txBox="1"/>
          <p:nvPr/>
        </p:nvSpPr>
        <p:spPr>
          <a:xfrm flipH="1">
            <a:off x="2192966" y="1865980"/>
            <a:ext cx="16475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ReLU</a:t>
            </a:r>
          </a:p>
        </p:txBody>
      </p:sp>
      <p:sp>
        <p:nvSpPr>
          <p:cNvPr id="156" name="Rectangle 14">
            <a:extLst>
              <a:ext uri="{FF2B5EF4-FFF2-40B4-BE49-F238E27FC236}">
                <a16:creationId xmlns:a16="http://schemas.microsoft.com/office/drawing/2014/main" id="{57156249-28D1-7B58-1B0C-E05332618902}"/>
              </a:ext>
            </a:extLst>
          </p:cNvPr>
          <p:cNvSpPr/>
          <p:nvPr/>
        </p:nvSpPr>
        <p:spPr>
          <a:xfrm flipH="1">
            <a:off x="4023360" y="1106057"/>
            <a:ext cx="1645920" cy="1006573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7" name="TextBox 15">
            <a:extLst>
              <a:ext uri="{FF2B5EF4-FFF2-40B4-BE49-F238E27FC236}">
                <a16:creationId xmlns:a16="http://schemas.microsoft.com/office/drawing/2014/main" id="{7E17F073-ACEA-CEFF-6FB7-E9B4D83480E9}"/>
              </a:ext>
            </a:extLst>
          </p:cNvPr>
          <p:cNvSpPr txBox="1"/>
          <p:nvPr/>
        </p:nvSpPr>
        <p:spPr>
          <a:xfrm flipH="1">
            <a:off x="4023360" y="1174640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Oculta 2</a:t>
            </a:r>
          </a:p>
        </p:txBody>
      </p:sp>
      <p:sp>
        <p:nvSpPr>
          <p:cNvPr id="158" name="TextBox 16">
            <a:extLst>
              <a:ext uri="{FF2B5EF4-FFF2-40B4-BE49-F238E27FC236}">
                <a16:creationId xmlns:a16="http://schemas.microsoft.com/office/drawing/2014/main" id="{08ABBB11-F4B4-E37B-DD75-C3CF64AC3A10}"/>
              </a:ext>
            </a:extLst>
          </p:cNvPr>
          <p:cNvSpPr txBox="1"/>
          <p:nvPr/>
        </p:nvSpPr>
        <p:spPr>
          <a:xfrm flipH="1">
            <a:off x="4023360" y="1517539"/>
            <a:ext cx="164592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Calibri"/>
              </a:rPr>
              <a:t>5 neuronas</a:t>
            </a:r>
          </a:p>
        </p:txBody>
      </p:sp>
      <p:sp>
        <p:nvSpPr>
          <p:cNvPr id="159" name="TextBox 17">
            <a:extLst>
              <a:ext uri="{FF2B5EF4-FFF2-40B4-BE49-F238E27FC236}">
                <a16:creationId xmlns:a16="http://schemas.microsoft.com/office/drawing/2014/main" id="{79D47E30-A49B-6C75-9F20-908B6A931A9E}"/>
              </a:ext>
            </a:extLst>
          </p:cNvPr>
          <p:cNvSpPr txBox="1"/>
          <p:nvPr/>
        </p:nvSpPr>
        <p:spPr>
          <a:xfrm flipH="1">
            <a:off x="4023360" y="1860438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ReLU</a:t>
            </a:r>
          </a:p>
        </p:txBody>
      </p:sp>
      <p:sp>
        <p:nvSpPr>
          <p:cNvPr id="160" name="TextBox 18">
            <a:extLst>
              <a:ext uri="{FF2B5EF4-FFF2-40B4-BE49-F238E27FC236}">
                <a16:creationId xmlns:a16="http://schemas.microsoft.com/office/drawing/2014/main" id="{C7335013-9903-52E9-8700-7F7433C5A625}"/>
              </a:ext>
            </a:extLst>
          </p:cNvPr>
          <p:cNvSpPr txBox="1"/>
          <p:nvPr/>
        </p:nvSpPr>
        <p:spPr>
          <a:xfrm flipH="1">
            <a:off x="1982693" y="1375125"/>
            <a:ext cx="23765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1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1" name="Rectangle 19">
            <a:extLst>
              <a:ext uri="{FF2B5EF4-FFF2-40B4-BE49-F238E27FC236}">
                <a16:creationId xmlns:a16="http://schemas.microsoft.com/office/drawing/2014/main" id="{6D45A365-1655-86B6-BC0C-7DEBBC7FD82C}"/>
              </a:ext>
            </a:extLst>
          </p:cNvPr>
          <p:cNvSpPr/>
          <p:nvPr/>
        </p:nvSpPr>
        <p:spPr>
          <a:xfrm flipH="1">
            <a:off x="5852158" y="1115426"/>
            <a:ext cx="1645922" cy="9852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2" name="TextBox 20">
            <a:extLst>
              <a:ext uri="{FF2B5EF4-FFF2-40B4-BE49-F238E27FC236}">
                <a16:creationId xmlns:a16="http://schemas.microsoft.com/office/drawing/2014/main" id="{482EE711-38E2-C07F-3351-9A83BE7EB2FB}"/>
              </a:ext>
            </a:extLst>
          </p:cNvPr>
          <p:cNvSpPr txBox="1"/>
          <p:nvPr/>
        </p:nvSpPr>
        <p:spPr>
          <a:xfrm flipH="1">
            <a:off x="5852158" y="1184008"/>
            <a:ext cx="1645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Salida</a:t>
            </a:r>
          </a:p>
        </p:txBody>
      </p:sp>
      <p:sp>
        <p:nvSpPr>
          <p:cNvPr id="163" name="TextBox 21">
            <a:extLst>
              <a:ext uri="{FF2B5EF4-FFF2-40B4-BE49-F238E27FC236}">
                <a16:creationId xmlns:a16="http://schemas.microsoft.com/office/drawing/2014/main" id="{2F630030-87F3-C2E7-6941-0A9055226AC7}"/>
              </a:ext>
            </a:extLst>
          </p:cNvPr>
          <p:cNvSpPr txBox="1"/>
          <p:nvPr/>
        </p:nvSpPr>
        <p:spPr>
          <a:xfrm flipH="1">
            <a:off x="5852158" y="1526907"/>
            <a:ext cx="164592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Calibri"/>
              </a:rPr>
              <a:t>1 neurona</a:t>
            </a:r>
          </a:p>
        </p:txBody>
      </p:sp>
      <p:sp>
        <p:nvSpPr>
          <p:cNvPr id="164" name="TextBox 22">
            <a:extLst>
              <a:ext uri="{FF2B5EF4-FFF2-40B4-BE49-F238E27FC236}">
                <a16:creationId xmlns:a16="http://schemas.microsoft.com/office/drawing/2014/main" id="{C493747E-FCA5-80A4-B604-FDA78EA79C01}"/>
              </a:ext>
            </a:extLst>
          </p:cNvPr>
          <p:cNvSpPr txBox="1"/>
          <p:nvPr/>
        </p:nvSpPr>
        <p:spPr>
          <a:xfrm flipH="1">
            <a:off x="5852158" y="1869806"/>
            <a:ext cx="16459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Sigmoide</a:t>
            </a:r>
          </a:p>
        </p:txBody>
      </p:sp>
      <p:pic>
        <p:nvPicPr>
          <p:cNvPr id="213" name="Imagen 212">
            <a:extLst>
              <a:ext uri="{FF2B5EF4-FFF2-40B4-BE49-F238E27FC236}">
                <a16:creationId xmlns:a16="http://schemas.microsoft.com/office/drawing/2014/main" id="{954ABD98-CD78-C738-FCC9-BE43300D5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902" y="2174169"/>
            <a:ext cx="5214025" cy="2534010"/>
          </a:xfrm>
          <a:prstGeom prst="rect">
            <a:avLst/>
          </a:prstGeom>
        </p:spPr>
      </p:pic>
      <p:sp>
        <p:nvSpPr>
          <p:cNvPr id="214" name="TextBox 18">
            <a:extLst>
              <a:ext uri="{FF2B5EF4-FFF2-40B4-BE49-F238E27FC236}">
                <a16:creationId xmlns:a16="http://schemas.microsoft.com/office/drawing/2014/main" id="{8AC45772-1DFC-3CC1-5D03-7E8CCDD19417}"/>
              </a:ext>
            </a:extLst>
          </p:cNvPr>
          <p:cNvSpPr txBox="1"/>
          <p:nvPr/>
        </p:nvSpPr>
        <p:spPr>
          <a:xfrm flipH="1">
            <a:off x="3813087" y="1390110"/>
            <a:ext cx="23765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1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15" name="TextBox 18">
            <a:extLst>
              <a:ext uri="{FF2B5EF4-FFF2-40B4-BE49-F238E27FC236}">
                <a16:creationId xmlns:a16="http://schemas.microsoft.com/office/drawing/2014/main" id="{AE8409B9-04C4-12DD-AED2-9A5B3269438C}"/>
              </a:ext>
            </a:extLst>
          </p:cNvPr>
          <p:cNvSpPr txBox="1"/>
          <p:nvPr/>
        </p:nvSpPr>
        <p:spPr>
          <a:xfrm flipH="1">
            <a:off x="5647230" y="1360213"/>
            <a:ext cx="23765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1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06 · RESULTADOS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Entrenamiento y Validación Cruzada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1252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726387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114300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496312" y="1143000"/>
            <a:ext cx="192024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496312" y="1252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96312" y="1726387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26864" y="1143000"/>
            <a:ext cx="1920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26864" y="1252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26864" y="1726387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(clase 1)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57416" y="114300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757416" y="1143000"/>
            <a:ext cx="1920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757416" y="1252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57416" y="1726387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(clase 1)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2359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Matriz de Confusión (Entrenamiento)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697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54480" y="2697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Pred. Normal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3464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Pred. Alterado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3035808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Real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Normal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572768" y="3035808"/>
            <a:ext cx="123444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572768" y="30815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62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72768" y="34930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Verdadero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Negativo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871216" y="3035808"/>
            <a:ext cx="12344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871216" y="30815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871216" y="34930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Falso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Positivo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3840480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Real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Alterado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72768" y="3840480"/>
            <a:ext cx="12344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1572768" y="38862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572768" y="4297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Falso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Negativo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871216" y="3840480"/>
            <a:ext cx="123444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2871216" y="38862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871216" y="4297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Verdadero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Positivo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228600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800600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Interpretación del Modelo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26974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(10,5) + ReLU + Adam: el MLP adquirió sensibilidad real y comenzó a detectar casos alterados.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0600" y="32095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Falsos Positivos son aceptables en diagnóstico clínico (mejor alarma que caso perdido).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37216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0.635 confirma capacidad discriminativa superior al clasificador aleatorio.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4233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Recall de la clase minoritaria mejora significativamente en test.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07 · RESULTADOS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Conjunto de Test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12527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77942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en 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 muestras)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496312" y="1143000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496312" y="12527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96312" y="177942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clase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26864" y="1143000"/>
            <a:ext cx="192024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26864" y="12527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26864" y="177942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57416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757416" y="1143000"/>
            <a:ext cx="1920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757416" y="12527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57416" y="177942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de 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 Normal + 2 Alterado)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Matriz de Confusión — Test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2788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Pred. Normal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2788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Pred. Alterado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108960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Normal (0)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72768" y="3108960"/>
            <a:ext cx="12344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572768" y="31089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17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871216" y="3108960"/>
            <a:ext cx="12344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871216" y="31089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1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02920" y="3913632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Alterado (1)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572768" y="3913632"/>
            <a:ext cx="12344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1572768" y="391363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1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2871216" y="3913632"/>
            <a:ext cx="123444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871216" y="391363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1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4663440" y="237744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80060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Análisis de Resultados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276148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 pacientes sanos identificados correctamente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18211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pacientes alterados detectados (Recall 50%)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6027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 falso positivo y 1 falso negativo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40233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rompió el sesgo: no predice siempre 'Normal', tiene sensibilidad clínica real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44398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accuracy en test confirma buena generalización sin sobreajuste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08 · CONCLUSIONES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109728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66928" y="123444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Precisión Honesta vs. Paradoja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52704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de accuracy es más válido que el 99% de un clasificador naive. Predecir siempre 'Normal' alcanzaría 88% sin utilidad diagnóstica.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109728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10328" y="123444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SMOTE Calibrado: Clave del Éxito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0328" y="152704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con k=3 vecinos fue indispensable para evitar overlapping, proporcionando un espacio de entrenamiento equilibrado y representativo.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109728" cy="1207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66928" y="25603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</a:rPr>
              <a:t>Topología Óptima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285292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MLP (10,5) con ReLU y Adam logró convergencia eficiente, descartando Sigmoid para evitar el vanishing gradient.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109728" cy="1207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910328" y="25603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Métrica Adecuada: Recall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0328" y="285292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diagnóstico clínico, minimizar los Falsos Negativos es prioritario. Es preferible tolerar una falsa alarma que perder un caso de infertilidad.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109728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66928" y="388620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</a:rPr>
              <a:t>Limitaciones del Dataset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417880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100 muestras y desbalanceo 88%/12%, ninguna variable superó p &lt; 0.05. Un dataset mayor mejoraría el poder estadístico.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79476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709160" y="3794760"/>
            <a:ext cx="109728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910328" y="388620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Valor Clínico Demostrado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0328" y="4178808"/>
            <a:ext cx="3822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MLP puede actuar como herramienta de cribado médico no invasivo, detectando alteraciones de fertilidad a partir de hábitos y datos sociodemográficos.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772400" y="274320"/>
            <a:ext cx="1828800" cy="18288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297680"/>
            <a:ext cx="9144000" cy="850392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C4FF"/>
                </a:solidFill>
              </a:rPr>
              <a:t>Redes Neuronales y Aprendizaje Profundo: Fertilidad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Eduardo Estefanía Ovejero  ·  Guillem Alcubilla Pueyo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Dataset: https://archive.ics.uci.edu/dataset/244/fertility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1288</Words>
  <Application>Microsoft Office PowerPoint</Application>
  <PresentationFormat>Presentación en pantalla (16:9)</PresentationFormat>
  <Paragraphs>292</Paragraphs>
  <Slides>15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Neuronales y Aprendizaje Profundo: Fertilidad</dc:title>
  <dc:subject>PptxGenJS Presentation</dc:subject>
  <dc:creator>PptxGenJS</dc:creator>
  <cp:lastModifiedBy>guillem alcubilla</cp:lastModifiedBy>
  <cp:revision>2</cp:revision>
  <dcterms:created xsi:type="dcterms:W3CDTF">2026-05-05T07:38:17Z</dcterms:created>
  <dcterms:modified xsi:type="dcterms:W3CDTF">2026-05-05T08:36:14Z</dcterms:modified>
</cp:coreProperties>
</file>